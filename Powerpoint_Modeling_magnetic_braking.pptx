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524d02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8524d02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524d02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8524d02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8524d02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8524d02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524d023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8524d023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8524d023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8524d023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524d023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8524d023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6b18eb8a1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6b18eb8a1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8524d023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8524d023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6b18eb8a1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6b18eb8a1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8a98085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8a98085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6.gif"/><Relationship Id="rId5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magnetic braking of Pleiades stars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Meredith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4675" y="3899850"/>
            <a:ext cx="79263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from: </a:t>
            </a:r>
            <a:r>
              <a:rPr lang="en" sz="1100">
                <a:solidFill>
                  <a:schemeClr val="dk2"/>
                </a:solidFill>
              </a:rPr>
              <a:t>Rebull, L. M., Stauffer, J. R., Bouvier, J., Cody, A. M., Hillenbrand, L. A., Soderblom, D. R., Valenti, J., Barrado, D., Bouy, H., Ciardi, D., Pinsonneault, M., Stassun, K., Micela, G., Aigrain, S., Vrba, F., Somers, G., Christiansen, J., Gillen, E., &amp; Cameron, A. C. (2016). Rotation in the Pleiades with K2. I. Data and first results. </a:t>
            </a:r>
            <a:r>
              <a:rPr i="1" lang="en" sz="1100">
                <a:solidFill>
                  <a:schemeClr val="dk2"/>
                </a:solidFill>
              </a:rPr>
              <a:t>The Astronomical Journal</a:t>
            </a:r>
            <a:r>
              <a:rPr lang="en" sz="1100">
                <a:solidFill>
                  <a:schemeClr val="dk2"/>
                </a:solidFill>
              </a:rPr>
              <a:t>, </a:t>
            </a:r>
            <a:r>
              <a:rPr i="1" lang="en" sz="1100">
                <a:solidFill>
                  <a:schemeClr val="dk2"/>
                </a:solidFill>
              </a:rPr>
              <a:t>152</a:t>
            </a:r>
            <a:r>
              <a:rPr lang="en" sz="1100">
                <a:solidFill>
                  <a:schemeClr val="dk2"/>
                </a:solidFill>
              </a:rPr>
              <a:t>(5), 113. https://doi.org/10.3847/0004-6256/152/5/113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210550" y="608575"/>
            <a:ext cx="2869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0" y="1320600"/>
            <a:ext cx="3080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Weibull distribution of rotational periods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Calculated periods should match the periods found by K2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Spin evolution with a constant rate of change</a:t>
            </a:r>
            <a:endParaRPr sz="18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925" y="0"/>
            <a:ext cx="3292001" cy="28952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201025" y="866275"/>
            <a:ext cx="496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080050" y="660475"/>
            <a:ext cx="4249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Findings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144625" y="1333500"/>
            <a:ext cx="27273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lognormal distribution best fits the rotational period data (Pleiades)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Calculated periods of the model match the observed data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Spin evolution follows a more exponential rate of change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150" y="2895225"/>
            <a:ext cx="3379850" cy="2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05250" y="566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methods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46975" y="1441200"/>
            <a:ext cx="8307600" cy="33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Languages/libraries:</a:t>
            </a:r>
            <a:r>
              <a:rPr lang="en" sz="1700">
                <a:solidFill>
                  <a:schemeClr val="dk2"/>
                </a:solidFill>
              </a:rPr>
              <a:t> numpy, pandas, scipy, matplotlib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Statistical methods:</a:t>
            </a:r>
            <a:r>
              <a:rPr lang="en" sz="1700">
                <a:solidFill>
                  <a:schemeClr val="dk2"/>
                </a:solidFill>
              </a:rPr>
              <a:t> Population monte carlo, error checking &amp; validation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Simulation and modeling: </a:t>
            </a:r>
            <a:r>
              <a:rPr lang="en" sz="1700">
                <a:solidFill>
                  <a:schemeClr val="dk2"/>
                </a:solidFill>
              </a:rPr>
              <a:t>Population modeling, backward spin-evolution modeling, forward spin-evolution modeling, mass-dependent moment of inertia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Visualization:</a:t>
            </a:r>
            <a:r>
              <a:rPr lang="en" sz="1700">
                <a:solidFill>
                  <a:schemeClr val="dk2"/>
                </a:solidFill>
              </a:rPr>
              <a:t> Rotational period histograms, spin evolution tracks, Mass/color diagnostics,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Data sources:</a:t>
            </a:r>
            <a:r>
              <a:rPr lang="en" sz="1700">
                <a:solidFill>
                  <a:schemeClr val="dk2"/>
                </a:solidFill>
              </a:rPr>
              <a:t> Rebull et al. 2016, T2: rotation periods, membership, photometry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</a:rPr>
              <a:t>Animation:</a:t>
            </a:r>
            <a:r>
              <a:rPr lang="en" sz="1700">
                <a:solidFill>
                  <a:schemeClr val="dk2"/>
                </a:solidFill>
              </a:rPr>
              <a:t> matplotlib.animation </a:t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3637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chart of coding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268075" y="408200"/>
            <a:ext cx="2387100" cy="113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358525" y="625500"/>
            <a:ext cx="2206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Load/clean </a:t>
            </a: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tables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283975" y="1932000"/>
            <a:ext cx="2206200" cy="10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 flipH="1" rot="10800000">
            <a:off x="4384675" y="1535988"/>
            <a:ext cx="4800" cy="39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6"/>
          <p:cNvSpPr txBox="1"/>
          <p:nvPr/>
        </p:nvSpPr>
        <p:spPr>
          <a:xfrm>
            <a:off x="3517075" y="2187600"/>
            <a:ext cx="18891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Define spin down diff eq.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" name="Google Shape;116;p16"/>
          <p:cNvCxnSpPr>
            <a:stCxn id="113" idx="2"/>
          </p:cNvCxnSpPr>
          <p:nvPr/>
        </p:nvCxnSpPr>
        <p:spPr>
          <a:xfrm flipH="1">
            <a:off x="2495575" y="2455200"/>
            <a:ext cx="788400" cy="2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6"/>
          <p:cNvSpPr/>
          <p:nvPr/>
        </p:nvSpPr>
        <p:spPr>
          <a:xfrm>
            <a:off x="289375" y="2187600"/>
            <a:ext cx="2206200" cy="846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36375" y="2244200"/>
            <a:ext cx="23871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Star evolution IVP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 flipH="1">
            <a:off x="1084250" y="3033888"/>
            <a:ext cx="174600" cy="5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6"/>
          <p:cNvSpPr/>
          <p:nvPr/>
        </p:nvSpPr>
        <p:spPr>
          <a:xfrm>
            <a:off x="0" y="3527700"/>
            <a:ext cx="3180900" cy="113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" name="Google Shape;121;p16"/>
          <p:cNvCxnSpPr>
            <a:stCxn id="113" idx="4"/>
          </p:cNvCxnSpPr>
          <p:nvPr/>
        </p:nvCxnSpPr>
        <p:spPr>
          <a:xfrm>
            <a:off x="4387075" y="2978400"/>
            <a:ext cx="6930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4210050" y="3244800"/>
            <a:ext cx="3110100" cy="113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389475" y="3500400"/>
            <a:ext cx="29307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Star spin evolution &amp; reverse evolution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06975" y="3749700"/>
            <a:ext cx="3110100" cy="14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Monte carlo: rotational periods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200100" y="58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concepts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244900" y="1427275"/>
            <a:ext cx="3222000" cy="18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Conservation of Angular </a:t>
            </a:r>
            <a:r>
              <a:rPr lang="en" sz="1800"/>
              <a:t>momentum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Torque law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Moment of inertia</a:t>
            </a:r>
            <a:endParaRPr sz="1800"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25" y="4021995"/>
            <a:ext cx="2647950" cy="11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17744" l="61435" r="6371" t="46131"/>
          <a:stretch/>
        </p:blipFill>
        <p:spPr>
          <a:xfrm>
            <a:off x="3534500" y="3526225"/>
            <a:ext cx="1904301" cy="16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31508" l="33895" r="34866" t="55031"/>
          <a:stretch/>
        </p:blipFill>
        <p:spPr>
          <a:xfrm>
            <a:off x="1380375" y="3152100"/>
            <a:ext cx="1904299" cy="6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321550" y="587450"/>
            <a:ext cx="3912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Physical Interpretation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47250" y="1427275"/>
            <a:ext cx="117300" cy="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468825" y="1178175"/>
            <a:ext cx="36753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Torque represents the magnetic braking experienced by stars, a process in which celestial bodies lose angular momentum due to ineraction with its own magnetic field and outflowing stellar wind/plasma.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For stars to lose angular momentum, there must be a torque acting on the body. This torque results from the exerted plasma with the magnetic field acting as a lever arm.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Moment of inertia for celestial bodies decreases w.r.t time. For dI/dt&lt;0, a star </a:t>
            </a: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contracts</a:t>
            </a: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spins faster.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57537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moment of inertia from (V-K) color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281200" y="1378525"/>
            <a:ext cx="8630400" cy="3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Improved models of the initial Skumanich braking law allow for a star’s radius and moment of inertia to change w.r.t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As young stars age, they evolve towards Zero-age Main Sequence (ZAMS) where it completes its’ radial contraction and begins stable hydrogen fusion in the core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During the evolution process solar radius decreases, mass decreases, and the rotation rate increased due to conservation of angular momentum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At the same time, magnetic braking slows the star down, so there are two contrasting effects w.r.t rotational velocity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moment of inertia from (V-K) color index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0" y="2352875"/>
            <a:ext cx="3173100" cy="25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3620" r="13157" t="0"/>
          <a:stretch/>
        </p:blipFill>
        <p:spPr>
          <a:xfrm>
            <a:off x="5761900" y="535200"/>
            <a:ext cx="3382100" cy="46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 rotWithShape="1">
          <a:blip r:embed="rId4">
            <a:alphaModFix/>
          </a:blip>
          <a:srcRect b="8237" l="8642" r="13785" t="22602"/>
          <a:stretch/>
        </p:blipFill>
        <p:spPr>
          <a:xfrm>
            <a:off x="3071175" y="1969475"/>
            <a:ext cx="3001650" cy="31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21325"/>
            <a:ext cx="3563825" cy="447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117950" y="613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the IVP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-53000" y="1371750"/>
            <a:ext cx="5611200" cy="24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differential equation is a Skumanich braking law, which expresses how the rotational velocity of stars decays over time, following a power law.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solve_ivp integrates the ode from t=0 to tmax, producing the full evolution of ⍵(t). This result is then converted into rotational period.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7925" y="1894398"/>
            <a:ext cx="3426075" cy="3249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3484" t="408"/>
          <a:stretch/>
        </p:blipFill>
        <p:spPr>
          <a:xfrm>
            <a:off x="0" y="2743500"/>
            <a:ext cx="5717925" cy="24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5">
            <a:alphaModFix/>
          </a:blip>
          <a:srcRect b="50641" l="21054" r="13782" t="22600"/>
          <a:stretch/>
        </p:blipFill>
        <p:spPr>
          <a:xfrm>
            <a:off x="6348275" y="613088"/>
            <a:ext cx="2795725" cy="13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277425" y="59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spin evolution of a star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277425" y="1441200"/>
            <a:ext cx="44883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allows us to infer initial and earlier rotational periods of stars under the skumanich-braking law.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measuring how long a star has been spinning down, astronomers can estimate any given star’s age. This aids the formulation of theories of how stellar clusters form and evolve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Knowing the </a:t>
            </a:r>
            <a:r>
              <a:rPr lang="en" sz="1500"/>
              <a:t>initial</a:t>
            </a:r>
            <a:r>
              <a:rPr lang="en" sz="1500"/>
              <a:t> rotational period can tell us about the conditions during star formation. I.e “Did the stars of a certain cluster form with similar rotation rates, or is there a wide range?”</a:t>
            </a:r>
            <a:endParaRPr sz="1500"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200" y="482500"/>
            <a:ext cx="4318799" cy="4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2761675" y="1218975"/>
            <a:ext cx="17004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211052320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268575" y="566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monte carlo</a:t>
            </a:r>
            <a:endParaRPr/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84225" y="1392400"/>
            <a:ext cx="5495700" cy="3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Gives stars in Pleiades a distribution of initial spin periods, if these stars lose angular velocity over time due to braking, what rotation period distribution should we see in the present?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Multiple rotational sequences in the observed K2 dataset, so one lognormal function cannot fully accurately match the left mode with the right shoulder.</a:t>
            </a:r>
            <a:endParaRPr/>
          </a:p>
        </p:txBody>
      </p:sp>
      <p:pic>
        <p:nvPicPr>
          <p:cNvPr id="175" name="Google Shape;175;p22" title="count_over_rotation.png"/>
          <p:cNvPicPr preferRelativeResize="0"/>
          <p:nvPr/>
        </p:nvPicPr>
        <p:blipFill rotWithShape="1">
          <a:blip r:embed="rId3">
            <a:alphaModFix/>
          </a:blip>
          <a:srcRect b="-2560" l="0" r="0" t="2560"/>
          <a:stretch/>
        </p:blipFill>
        <p:spPr>
          <a:xfrm>
            <a:off x="6314250" y="0"/>
            <a:ext cx="2773925" cy="24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creenshot 2026-04-19 162213.png"/>
          <p:cNvPicPr preferRelativeResize="0"/>
          <p:nvPr/>
        </p:nvPicPr>
        <p:blipFill rotWithShape="1">
          <a:blip r:embed="rId4">
            <a:alphaModFix/>
          </a:blip>
          <a:srcRect b="0" l="0" r="0" t="2676"/>
          <a:stretch/>
        </p:blipFill>
        <p:spPr>
          <a:xfrm>
            <a:off x="1249850" y="2788950"/>
            <a:ext cx="3164450" cy="235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8425" y="2463775"/>
            <a:ext cx="2885576" cy="26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584375" y="580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plots</a:t>
            </a:r>
            <a:endParaRPr/>
          </a:p>
        </p:txBody>
      </p:sp>
      <p:pic>
        <p:nvPicPr>
          <p:cNvPr id="183" name="Google Shape;1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6350"/>
            <a:ext cx="3254150" cy="294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 title="radius_evoluti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8075" y="2353029"/>
            <a:ext cx="2715274" cy="279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title="period_histogram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3350" y="2571750"/>
            <a:ext cx="31706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